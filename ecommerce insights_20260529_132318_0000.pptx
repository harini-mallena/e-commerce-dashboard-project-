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x="18288000" cy="10287000"/>
  <p:notesSz cx="6858000" cy="9144000"/>
  <p:embeddedFontLst>
    <p:embeddedFont>
      <p:font typeface="League Spartan" charset="1" panose="00000800000000000000"/>
      <p:regular r:id="rId26"/>
    </p:embeddedFont>
    <p:embeddedFont>
      <p:font typeface="Canva Sans Bold" charset="1" panose="020B0803030501040103"/>
      <p:regular r:id="rId27"/>
    </p:embeddedFont>
    <p:embeddedFont>
      <p:font typeface="Alice" charset="1" panose="00000500000000000000"/>
      <p:regular r:id="rId28"/>
    </p:embeddedFont>
    <p:embeddedFont>
      <p:font typeface="Canva Sans" charset="1" panose="020B0503030501040103"/>
      <p:regular r:id="rId29"/>
    </p:embeddedFont>
    <p:embeddedFont>
      <p:font typeface="Cooper BT Bold Italics" charset="1" panose="0208080405030B090404"/>
      <p:regular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62BFD4">
                <a:alpha val="100000"/>
              </a:srgbClr>
            </a:gs>
            <a:gs pos="100000">
              <a:srgbClr val="F1DD76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5640331"/>
            <a:ext cx="13991858" cy="1359813"/>
            <a:chOff x="0" y="0"/>
            <a:chExt cx="2183762" cy="21223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83762" cy="212231"/>
            </a:xfrm>
            <a:custGeom>
              <a:avLst/>
              <a:gdLst/>
              <a:ahLst/>
              <a:cxnLst/>
              <a:rect r="r" b="b" t="t" l="l"/>
              <a:pathLst>
                <a:path h="212231" w="2183762">
                  <a:moveTo>
                    <a:pt x="0" y="0"/>
                  </a:moveTo>
                  <a:lnTo>
                    <a:pt x="2183762" y="0"/>
                  </a:lnTo>
                  <a:lnTo>
                    <a:pt x="2183762" y="212231"/>
                  </a:lnTo>
                  <a:lnTo>
                    <a:pt x="0" y="212231"/>
                  </a:lnTo>
                  <a:close/>
                </a:path>
              </a:pathLst>
            </a:custGeom>
            <a:gradFill rotWithShape="true">
              <a:gsLst>
                <a:gs pos="0">
                  <a:srgbClr val="FFF7AD">
                    <a:alpha val="32000"/>
                  </a:srgbClr>
                </a:gs>
                <a:gs pos="100000">
                  <a:srgbClr val="FFA9F9">
                    <a:alpha val="32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183762" cy="2503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446466" y="3347241"/>
            <a:ext cx="15505116" cy="2577074"/>
            <a:chOff x="0" y="0"/>
            <a:chExt cx="2419942" cy="40221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19942" cy="402214"/>
            </a:xfrm>
            <a:custGeom>
              <a:avLst/>
              <a:gdLst/>
              <a:ahLst/>
              <a:cxnLst/>
              <a:rect r="r" b="b" t="t" l="l"/>
              <a:pathLst>
                <a:path h="402214" w="2419942">
                  <a:moveTo>
                    <a:pt x="0" y="0"/>
                  </a:moveTo>
                  <a:lnTo>
                    <a:pt x="2419942" y="0"/>
                  </a:lnTo>
                  <a:lnTo>
                    <a:pt x="2419942" y="402214"/>
                  </a:lnTo>
                  <a:lnTo>
                    <a:pt x="0" y="402214"/>
                  </a:lnTo>
                  <a:close/>
                </a:path>
              </a:pathLst>
            </a:custGeom>
            <a:gradFill rotWithShape="true">
              <a:gsLst>
                <a:gs pos="0">
                  <a:srgbClr val="5DE0E6">
                    <a:alpha val="53000"/>
                  </a:srgbClr>
                </a:gs>
                <a:gs pos="100000">
                  <a:srgbClr val="004AAD">
                    <a:alpha val="5300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419942" cy="4403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224027" y="3346917"/>
            <a:ext cx="16035273" cy="25773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332"/>
              </a:lnSpc>
            </a:pPr>
            <a:r>
              <a:rPr lang="en-US" sz="738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E-Commerce Sales</a:t>
            </a:r>
          </a:p>
          <a:p>
            <a:pPr algn="ctr">
              <a:lnSpc>
                <a:spcPts val="10332"/>
              </a:lnSpc>
              <a:spcBef>
                <a:spcPct val="0"/>
              </a:spcBef>
            </a:pPr>
            <a:r>
              <a:rPr lang="en-US" sz="738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Dashboard Analysis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5201900" y="0"/>
            <a:ext cx="3086100" cy="2204357"/>
            <a:chOff x="0" y="0"/>
            <a:chExt cx="622300" cy="4445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22300" cy="444500"/>
            </a:xfrm>
            <a:custGeom>
              <a:avLst/>
              <a:gdLst/>
              <a:ahLst/>
              <a:cxnLst/>
              <a:rect r="r" b="b" t="t" l="l"/>
              <a:pathLst>
                <a:path h="444500" w="622300">
                  <a:moveTo>
                    <a:pt x="574283" y="0"/>
                  </a:moveTo>
                  <a:lnTo>
                    <a:pt x="48017" y="0"/>
                  </a:lnTo>
                  <a:cubicBezTo>
                    <a:pt x="21498" y="0"/>
                    <a:pt x="0" y="21498"/>
                    <a:pt x="0" y="48017"/>
                  </a:cubicBezTo>
                  <a:lnTo>
                    <a:pt x="0" y="398743"/>
                  </a:lnTo>
                  <a:cubicBezTo>
                    <a:pt x="33101" y="433272"/>
                    <a:pt x="139024" y="481613"/>
                    <a:pt x="297909" y="398743"/>
                  </a:cubicBezTo>
                  <a:cubicBezTo>
                    <a:pt x="456795" y="315872"/>
                    <a:pt x="580372" y="364213"/>
                    <a:pt x="622300" y="398743"/>
                  </a:cubicBezTo>
                  <a:lnTo>
                    <a:pt x="622300" y="48017"/>
                  </a:lnTo>
                  <a:cubicBezTo>
                    <a:pt x="622300" y="21498"/>
                    <a:pt x="600802" y="0"/>
                    <a:pt x="57428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7794B6">
                    <a:alpha val="100000"/>
                  </a:srgbClr>
                </a:gs>
                <a:gs pos="100000">
                  <a:srgbClr val="DFFAFF">
                    <a:alpha val="100000"/>
                  </a:srgbClr>
                </a:gs>
              </a:gsLst>
              <a:lin ang="1890000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42875"/>
              <a:ext cx="622300" cy="492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0639"/>
                </a:lnSpc>
              </a:pPr>
              <a:r>
                <a:rPr lang="en-US" b="true" sz="7599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1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4875270" y="5819540"/>
            <a:ext cx="8732788" cy="896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Data driven Business Insights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7259300" y="9210675"/>
            <a:ext cx="490591" cy="1146607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63582" y="9546716"/>
            <a:ext cx="18288000" cy="513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68"/>
              </a:lnSpc>
            </a:pPr>
            <a:r>
              <a:rPr lang="en-US" sz="304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Presented by Harini Mallena/Excel Project/Student/Upcoming Data Analyst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CDFFD8">
                <a:alpha val="100000"/>
              </a:srgbClr>
            </a:gs>
            <a:gs pos="100000">
              <a:srgbClr val="94B9F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8805800" y="1020979"/>
            <a:ext cx="9222000" cy="7899512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2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933606" y="4074465"/>
            <a:ext cx="6305489" cy="1691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90"/>
              </a:lnSpc>
            </a:pPr>
            <a:r>
              <a:rPr lang="en-US" sz="242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Sales fluctuate across months, with peak performance in December month</a:t>
            </a:r>
          </a:p>
          <a:p>
            <a:pPr algn="ctr">
              <a:lnSpc>
                <a:spcPts val="3390"/>
              </a:lnSpc>
              <a:spcBef>
                <a:spcPct val="0"/>
              </a:spcBef>
            </a:pPr>
            <a:r>
              <a:rPr lang="en-US" sz="242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This helps identify seasonal trends and planning strategies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1654986"/>
            <a:ext cx="8115300" cy="506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27"/>
              </a:lnSpc>
              <a:spcBef>
                <a:spcPct val="0"/>
              </a:spcBef>
            </a:pPr>
            <a:r>
              <a:rPr lang="en-US" b="true" sz="2948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How did sales perform throughout the year?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CDFFD8">
                <a:alpha val="100000"/>
              </a:srgbClr>
            </a:gs>
            <a:gs pos="100000">
              <a:srgbClr val="94B9F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9552375" y="899591"/>
            <a:ext cx="8410953" cy="8448342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3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750802" y="1546469"/>
            <a:ext cx="6452443" cy="4978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59"/>
              </a:lnSpc>
              <a:spcBef>
                <a:spcPct val="0"/>
              </a:spcBef>
            </a:pPr>
            <a:r>
              <a:rPr lang="en-US" b="true" sz="28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Which sales channel performs best?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83155" y="4238388"/>
            <a:ext cx="7902625" cy="12625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88"/>
              </a:lnSpc>
            </a:pPr>
            <a:r>
              <a:rPr lang="en-US" sz="242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Website and Market place Channels generate </a:t>
            </a:r>
          </a:p>
          <a:p>
            <a:pPr algn="ctr">
              <a:lnSpc>
                <a:spcPts val="3388"/>
              </a:lnSpc>
            </a:pPr>
            <a:r>
              <a:rPr lang="en-US" sz="242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higher revenue than the mobile app.</a:t>
            </a:r>
          </a:p>
          <a:p>
            <a:pPr algn="ctr">
              <a:lnSpc>
                <a:spcPts val="3388"/>
              </a:lnSpc>
              <a:spcBef>
                <a:spcPct val="0"/>
              </a:spcBef>
            </a:pPr>
            <a:r>
              <a:rPr lang="en-US" sz="242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This suggests customers prefer web-based purchases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CDFFD8">
                <a:alpha val="100000"/>
              </a:srgbClr>
            </a:gs>
            <a:gs pos="100000">
              <a:srgbClr val="94B9F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9567987" y="1196084"/>
            <a:ext cx="8390524" cy="7376835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4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358953" y="1838144"/>
            <a:ext cx="9580066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Which Product category contributes the most revenue?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4303476"/>
            <a:ext cx="9580066" cy="1234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Fashion and Beauty categories contribute</a:t>
            </a:r>
          </a:p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the highest sales.</a:t>
            </a:r>
          </a:p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This indicates strong customer demand in these segments.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CDFFD8">
                <a:alpha val="100000"/>
              </a:srgbClr>
            </a:gs>
            <a:gs pos="100000">
              <a:srgbClr val="94B9F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8031457" y="1160949"/>
            <a:ext cx="10230557" cy="7663478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5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350318" y="1736000"/>
            <a:ext cx="7793682" cy="4978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59"/>
              </a:lnSpc>
              <a:spcBef>
                <a:spcPct val="0"/>
              </a:spcBef>
            </a:pPr>
            <a:r>
              <a:rPr lang="en-US" b="true" sz="28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Which region generates maximum revenue?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009924" y="4356417"/>
            <a:ext cx="6474470" cy="1234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Africa and Europe generate higher sales</a:t>
            </a:r>
          </a:p>
          <a:p>
            <a:pPr algn="ctr">
              <a:lnSpc>
                <a:spcPts val="3359"/>
              </a:lnSpc>
            </a:pPr>
            <a:r>
              <a:rPr lang="en-US" sz="2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compared to toehr regions.</a:t>
            </a:r>
          </a:p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This shows strong regional market presence.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62BFD4">
                <a:alpha val="100000"/>
              </a:srgbClr>
            </a:gs>
            <a:gs pos="100000">
              <a:srgbClr val="F1DD76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8689292" y="1016744"/>
            <a:ext cx="9349099" cy="8237055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6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795699" y="1738686"/>
            <a:ext cx="7672685" cy="4978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59"/>
              </a:lnSpc>
              <a:spcBef>
                <a:spcPct val="0"/>
              </a:spcBef>
            </a:pPr>
            <a:r>
              <a:rPr lang="en-US" b="true" sz="28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Which payment method is most preferred?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95699" y="4142172"/>
            <a:ext cx="7672685" cy="173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Credit card and UPI are the most preferred payment  methods.</a:t>
            </a:r>
          </a:p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This indicates increasing digital payment adoption.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4898AB">
                <a:alpha val="100000"/>
              </a:srgbClr>
            </a:gs>
            <a:gs pos="100000">
              <a:srgbClr val="90D46C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5143500"/>
            <a:ext cx="12054339" cy="1359813"/>
            <a:chOff x="0" y="0"/>
            <a:chExt cx="1881366" cy="21223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81366" cy="212231"/>
            </a:xfrm>
            <a:custGeom>
              <a:avLst/>
              <a:gdLst/>
              <a:ahLst/>
              <a:cxnLst/>
              <a:rect r="r" b="b" t="t" l="l"/>
              <a:pathLst>
                <a:path h="212231" w="1881366">
                  <a:moveTo>
                    <a:pt x="0" y="0"/>
                  </a:moveTo>
                  <a:lnTo>
                    <a:pt x="1881366" y="0"/>
                  </a:lnTo>
                  <a:lnTo>
                    <a:pt x="1881366" y="212231"/>
                  </a:lnTo>
                  <a:lnTo>
                    <a:pt x="0" y="212231"/>
                  </a:lnTo>
                  <a:close/>
                </a:path>
              </a:pathLst>
            </a:custGeom>
            <a:solidFill>
              <a:srgbClr val="C1FF7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1881366" cy="2693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  <a:r>
                <a:rPr lang="en-US" b="true" sz="2599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Analying margins and product performace to maximize profitability.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978211" y="3284155"/>
            <a:ext cx="15309789" cy="2076012"/>
            <a:chOff x="0" y="0"/>
            <a:chExt cx="2389457" cy="32401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389456" cy="324011"/>
            </a:xfrm>
            <a:custGeom>
              <a:avLst/>
              <a:gdLst/>
              <a:ahLst/>
              <a:cxnLst/>
              <a:rect r="r" b="b" t="t" l="l"/>
              <a:pathLst>
                <a:path h="324011" w="2389456">
                  <a:moveTo>
                    <a:pt x="0" y="0"/>
                  </a:moveTo>
                  <a:lnTo>
                    <a:pt x="2389456" y="0"/>
                  </a:lnTo>
                  <a:lnTo>
                    <a:pt x="2389456" y="324011"/>
                  </a:lnTo>
                  <a:lnTo>
                    <a:pt x="0" y="324011"/>
                  </a:lnTo>
                  <a:close/>
                </a:path>
              </a:pathLst>
            </a:custGeom>
            <a:gradFill rotWithShape="true">
              <a:gsLst>
                <a:gs pos="0">
                  <a:srgbClr val="0097B2">
                    <a:alpha val="76000"/>
                  </a:srgbClr>
                </a:gs>
                <a:gs pos="100000">
                  <a:srgbClr val="7ED957">
                    <a:alpha val="7600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133350"/>
              <a:ext cx="2389457" cy="4573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0192"/>
                </a:lnSpc>
              </a:pPr>
              <a:r>
                <a:rPr lang="en-US" b="true" sz="7280">
                  <a:solidFill>
                    <a:srgbClr val="000000">
                      <a:alpha val="75686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Profit &amp; Probability Dashboard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5201900" y="0"/>
            <a:ext cx="3086100" cy="2204357"/>
            <a:chOff x="0" y="0"/>
            <a:chExt cx="622300" cy="4445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22300" cy="444500"/>
            </a:xfrm>
            <a:custGeom>
              <a:avLst/>
              <a:gdLst/>
              <a:ahLst/>
              <a:cxnLst/>
              <a:rect r="r" b="b" t="t" l="l"/>
              <a:pathLst>
                <a:path h="444500" w="622300">
                  <a:moveTo>
                    <a:pt x="574283" y="0"/>
                  </a:moveTo>
                  <a:lnTo>
                    <a:pt x="48017" y="0"/>
                  </a:lnTo>
                  <a:cubicBezTo>
                    <a:pt x="21498" y="0"/>
                    <a:pt x="0" y="21498"/>
                    <a:pt x="0" y="48017"/>
                  </a:cubicBezTo>
                  <a:lnTo>
                    <a:pt x="0" y="398743"/>
                  </a:lnTo>
                  <a:cubicBezTo>
                    <a:pt x="33101" y="433272"/>
                    <a:pt x="139024" y="481613"/>
                    <a:pt x="297909" y="398743"/>
                  </a:cubicBezTo>
                  <a:cubicBezTo>
                    <a:pt x="456795" y="315872"/>
                    <a:pt x="580372" y="364213"/>
                    <a:pt x="622300" y="398743"/>
                  </a:cubicBezTo>
                  <a:lnTo>
                    <a:pt x="622300" y="48017"/>
                  </a:lnTo>
                  <a:cubicBezTo>
                    <a:pt x="622300" y="21498"/>
                    <a:pt x="600802" y="0"/>
                    <a:pt x="57428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97B2">
                    <a:alpha val="100000"/>
                  </a:srgbClr>
                </a:gs>
                <a:gs pos="100000">
                  <a:srgbClr val="7ED957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42875"/>
              <a:ext cx="622300" cy="492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0639"/>
                </a:lnSpc>
              </a:pPr>
              <a:r>
                <a:rPr lang="en-US" b="true" sz="7599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2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7CCE6B">
                <a:alpha val="100000"/>
              </a:srgbClr>
            </a:gs>
            <a:gs pos="100000">
              <a:srgbClr val="D8FFD0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8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0220219" y="1189290"/>
            <a:ext cx="7698116" cy="7908421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666673" y="1791175"/>
            <a:ext cx="9757916" cy="4978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59"/>
              </a:lnSpc>
              <a:spcBef>
                <a:spcPct val="0"/>
              </a:spcBef>
            </a:pPr>
            <a:r>
              <a:rPr lang="en-US" b="true" sz="28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Which product category has the highest profit margin?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66673" y="3988527"/>
            <a:ext cx="7798594" cy="1653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Fashion and Beauty categoy shows the highest profit </a:t>
            </a:r>
          </a:p>
          <a:p>
            <a:pPr algn="ctr">
              <a:lnSpc>
                <a:spcPts val="3359"/>
              </a:lnSpc>
            </a:pPr>
            <a:r>
              <a:rPr lang="en-US" sz="2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margin, followed by Sports and Home.</a:t>
            </a:r>
          </a:p>
          <a:p>
            <a:pPr algn="ctr">
              <a:lnSpc>
                <a:spcPts val="3359"/>
              </a:lnSpc>
            </a:pPr>
            <a:r>
              <a:rPr lang="en-US" sz="2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This suggests that Fashion products are priced</a:t>
            </a:r>
          </a:p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efficiently and generate better returns.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7CCE6B">
                <a:alpha val="100000"/>
              </a:srgbClr>
            </a:gs>
            <a:gs pos="100000">
              <a:srgbClr val="D8FFD0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9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9980333" y="951065"/>
            <a:ext cx="7940692" cy="7897803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028700" y="1937419"/>
            <a:ext cx="7402476" cy="4978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59"/>
              </a:lnSpc>
              <a:spcBef>
                <a:spcPct val="0"/>
              </a:spcBef>
            </a:pPr>
            <a:r>
              <a:rPr lang="en-US" b="true" sz="28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How does discount impact profit?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4263696"/>
            <a:ext cx="9020324" cy="1234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Scatter plat shows that moderate discounts </a:t>
            </a:r>
          </a:p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still maintain good profit levels.</a:t>
            </a:r>
          </a:p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However, higher discounts may slightly reduce profit margins.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7CCE6B">
                <a:alpha val="100000"/>
              </a:srgbClr>
            </a:gs>
            <a:gs pos="100000">
              <a:srgbClr val="D8FFD0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10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8497561" y="1272669"/>
            <a:ext cx="9726707" cy="746014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398913" y="2026078"/>
            <a:ext cx="8561189" cy="4978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59"/>
              </a:lnSpc>
              <a:spcBef>
                <a:spcPct val="0"/>
              </a:spcBef>
            </a:pPr>
            <a:r>
              <a:rPr lang="en-US" b="true" sz="28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Which product contributes more profit returns?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05248" y="4507230"/>
            <a:ext cx="7638752" cy="1234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Sofa and Mixer generate higher profits compated</a:t>
            </a:r>
          </a:p>
          <a:p>
            <a:pPr algn="ctr">
              <a:lnSpc>
                <a:spcPts val="3359"/>
              </a:lnSpc>
            </a:pPr>
            <a:r>
              <a:rPr lang="en-US" sz="2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to other products.</a:t>
            </a:r>
          </a:p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This indicates strong demand in these product lines.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7CCE6B">
                <a:alpha val="100000"/>
              </a:srgbClr>
            </a:gs>
            <a:gs pos="100000">
              <a:srgbClr val="D8FFD0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11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0179187" y="1964600"/>
            <a:ext cx="7723759" cy="6357799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375221" y="2551097"/>
            <a:ext cx="9674572" cy="4978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59"/>
              </a:lnSpc>
              <a:spcBef>
                <a:spcPct val="0"/>
              </a:spcBef>
            </a:pPr>
            <a:r>
              <a:rPr lang="en-US" b="true" sz="28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Which category has the highest product contribution?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75221" y="4721401"/>
            <a:ext cx="8785771" cy="1234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Fashion category contributes the highest share, </a:t>
            </a:r>
          </a:p>
          <a:p>
            <a:pPr algn="ctr">
              <a:lnSpc>
                <a:spcPts val="3359"/>
              </a:lnSpc>
            </a:pPr>
            <a:r>
              <a:rPr lang="en-US" sz="2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around 22% followed by Beauty and Sports.</a:t>
            </a:r>
          </a:p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This shows balanced product distribution across categories.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FF7C90">
                <a:alpha val="100000"/>
              </a:srgbClr>
            </a:gs>
            <a:gs pos="100000">
              <a:srgbClr val="FFE1A4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5462966"/>
            <a:ext cx="11653110" cy="1359813"/>
            <a:chOff x="0" y="0"/>
            <a:chExt cx="1818745" cy="21223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18745" cy="212231"/>
            </a:xfrm>
            <a:custGeom>
              <a:avLst/>
              <a:gdLst/>
              <a:ahLst/>
              <a:cxnLst/>
              <a:rect r="r" b="b" t="t" l="l"/>
              <a:pathLst>
                <a:path h="212231" w="1818745">
                  <a:moveTo>
                    <a:pt x="0" y="0"/>
                  </a:moveTo>
                  <a:lnTo>
                    <a:pt x="1818745" y="0"/>
                  </a:lnTo>
                  <a:lnTo>
                    <a:pt x="1818745" y="212231"/>
                  </a:lnTo>
                  <a:lnTo>
                    <a:pt x="0" y="212231"/>
                  </a:lnTo>
                  <a:close/>
                </a:path>
              </a:pathLst>
            </a:custGeom>
            <a:gradFill rotWithShape="true">
              <a:gsLst>
                <a:gs pos="0">
                  <a:srgbClr val="FFDE59">
                    <a:alpha val="100000"/>
                  </a:srgbClr>
                </a:gs>
                <a:gs pos="100000">
                  <a:srgbClr val="FF914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818745" cy="2598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9"/>
                </a:lnSpc>
              </a:pPr>
              <a:r>
                <a:rPr lang="en-US" b="true" sz="2299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Understanding customer behaviour to enhance growth and retention strategies.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770649" y="3800325"/>
            <a:ext cx="16316850" cy="2020102"/>
            <a:chOff x="0" y="0"/>
            <a:chExt cx="4297442" cy="53204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297442" cy="532043"/>
            </a:xfrm>
            <a:custGeom>
              <a:avLst/>
              <a:gdLst/>
              <a:ahLst/>
              <a:cxnLst/>
              <a:rect r="r" b="b" t="t" l="l"/>
              <a:pathLst>
                <a:path h="532043" w="4297442">
                  <a:moveTo>
                    <a:pt x="0" y="0"/>
                  </a:moveTo>
                  <a:lnTo>
                    <a:pt x="4297442" y="0"/>
                  </a:lnTo>
                  <a:lnTo>
                    <a:pt x="4297442" y="532043"/>
                  </a:lnTo>
                  <a:lnTo>
                    <a:pt x="0" y="532043"/>
                  </a:lnTo>
                  <a:close/>
                </a:path>
              </a:pathLst>
            </a:custGeom>
            <a:gradFill rotWithShape="true">
              <a:gsLst>
                <a:gs pos="0">
                  <a:srgbClr val="FF3131">
                    <a:alpha val="91000"/>
                  </a:srgbClr>
                </a:gs>
                <a:gs pos="100000">
                  <a:srgbClr val="FF914D">
                    <a:alpha val="9100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133350"/>
              <a:ext cx="4297442" cy="6653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0135"/>
                </a:lnSpc>
              </a:pPr>
              <a:r>
                <a:rPr lang="en-US" b="true" sz="7239">
                  <a:solidFill>
                    <a:srgbClr val="FFFFFF">
                      <a:alpha val="90980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Customer Analysis Dashboard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5201900" y="0"/>
            <a:ext cx="3086100" cy="2204357"/>
            <a:chOff x="0" y="0"/>
            <a:chExt cx="622300" cy="4445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22300" cy="444500"/>
            </a:xfrm>
            <a:custGeom>
              <a:avLst/>
              <a:gdLst/>
              <a:ahLst/>
              <a:cxnLst/>
              <a:rect r="r" b="b" t="t" l="l"/>
              <a:pathLst>
                <a:path h="444500" w="622300">
                  <a:moveTo>
                    <a:pt x="574283" y="0"/>
                  </a:moveTo>
                  <a:lnTo>
                    <a:pt x="48017" y="0"/>
                  </a:lnTo>
                  <a:cubicBezTo>
                    <a:pt x="21498" y="0"/>
                    <a:pt x="0" y="21498"/>
                    <a:pt x="0" y="48017"/>
                  </a:cubicBezTo>
                  <a:lnTo>
                    <a:pt x="0" y="398743"/>
                  </a:lnTo>
                  <a:cubicBezTo>
                    <a:pt x="33101" y="433272"/>
                    <a:pt x="139024" y="481613"/>
                    <a:pt x="297909" y="398743"/>
                  </a:cubicBezTo>
                  <a:cubicBezTo>
                    <a:pt x="456795" y="315872"/>
                    <a:pt x="580372" y="364213"/>
                    <a:pt x="622300" y="398743"/>
                  </a:cubicBezTo>
                  <a:lnTo>
                    <a:pt x="622300" y="48017"/>
                  </a:lnTo>
                  <a:cubicBezTo>
                    <a:pt x="622300" y="21498"/>
                    <a:pt x="600802" y="0"/>
                    <a:pt x="574283" y="0"/>
                  </a:cubicBezTo>
                  <a:close/>
                </a:path>
              </a:pathLst>
            </a:custGeom>
            <a:solidFill>
              <a:srgbClr val="EF737C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42875"/>
              <a:ext cx="622300" cy="492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0639"/>
                </a:lnSpc>
              </a:pPr>
              <a:r>
                <a:rPr lang="en-US" b="true" sz="7599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3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3B0F2">
                <a:alpha val="100000"/>
              </a:srgbClr>
            </a:gs>
            <a:gs pos="100000">
              <a:srgbClr val="FDF5B9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13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0378016" y="1658413"/>
            <a:ext cx="7815010" cy="6970173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955007" y="2252514"/>
            <a:ext cx="8048625" cy="4978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59"/>
              </a:lnSpc>
              <a:spcBef>
                <a:spcPct val="0"/>
              </a:spcBef>
            </a:pPr>
            <a:r>
              <a:rPr lang="en-US" b="true" sz="28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How has customer revenue grown over time?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955007" y="4507230"/>
            <a:ext cx="8048625" cy="1234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Customer revenue shows fluctuations across months, with noticaeble peaks in certain months.</a:t>
            </a:r>
          </a:p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This indicates seasonal deamand patterns.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3B0F2">
                <a:alpha val="100000"/>
              </a:srgbClr>
            </a:gs>
            <a:gs pos="100000">
              <a:srgbClr val="FDF5B9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14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1133950" y="1785602"/>
            <a:ext cx="6993440" cy="6639442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693738" y="2090894"/>
            <a:ext cx="7499449" cy="4978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59"/>
              </a:lnSpc>
              <a:spcBef>
                <a:spcPct val="0"/>
              </a:spcBef>
            </a:pPr>
            <a:r>
              <a:rPr lang="en-US" b="true" sz="28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How was the revenue of Top 5 customers?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77863" y="4811853"/>
            <a:ext cx="10102453" cy="1234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Top 5 customers significantly contribute to overall revenue,</a:t>
            </a:r>
          </a:p>
          <a:p>
            <a:pPr algn="ctr">
              <a:lnSpc>
                <a:spcPts val="3359"/>
              </a:lnSpc>
            </a:pPr>
            <a:r>
              <a:rPr lang="en-US" sz="2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with </a:t>
            </a:r>
            <a:r>
              <a:rPr lang="en-US" sz="23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CUST9536</a:t>
            </a:r>
            <a:r>
              <a:rPr lang="en-US" sz="2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being the highest contribute.</a:t>
            </a:r>
          </a:p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This shows that a small group of customers generates major revenue.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3B0F2">
                <a:alpha val="100000"/>
              </a:srgbClr>
            </a:gs>
            <a:gs pos="100000">
              <a:srgbClr val="FDF5B9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15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9128045" y="1634932"/>
            <a:ext cx="9028027" cy="7017136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411534" y="2109772"/>
            <a:ext cx="9801820" cy="4978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59"/>
              </a:lnSpc>
              <a:spcBef>
                <a:spcPct val="0"/>
              </a:spcBef>
            </a:pPr>
            <a:r>
              <a:rPr lang="en-US" b="true" sz="28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Which region of customers generates highest revenue?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11534" y="4297680"/>
            <a:ext cx="8342412" cy="1653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Africa and Europe generate higher revenue</a:t>
            </a:r>
          </a:p>
          <a:p>
            <a:pPr algn="ctr">
              <a:lnSpc>
                <a:spcPts val="3359"/>
              </a:lnSpc>
            </a:pPr>
            <a:r>
              <a:rPr lang="en-US" sz="2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compared to other regions.</a:t>
            </a:r>
          </a:p>
          <a:p>
            <a:pPr algn="ctr">
              <a:lnSpc>
                <a:spcPts val="3359"/>
              </a:lnSpc>
            </a:pPr>
            <a:r>
              <a:rPr lang="en-US" sz="2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North America shows comparitively lower revenue.</a:t>
            </a:r>
          </a:p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This indicates strong market presence in specific regions.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3B0F2">
                <a:alpha val="100000"/>
              </a:srgbClr>
            </a:gs>
            <a:gs pos="100000">
              <a:srgbClr val="FDF5B9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16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9818723" y="1436064"/>
            <a:ext cx="8437488" cy="7414873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658468" y="2082038"/>
            <a:ext cx="8441829" cy="4978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59"/>
              </a:lnSpc>
              <a:spcBef>
                <a:spcPct val="0"/>
              </a:spcBef>
            </a:pPr>
            <a:r>
              <a:rPr lang="en-US" b="true" sz="28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How are customers distributed acroos regions?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58468" y="4297680"/>
            <a:ext cx="8067526" cy="1653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Customer distribution is fairly balanced across regions,</a:t>
            </a:r>
          </a:p>
          <a:p>
            <a:pPr algn="ctr">
              <a:lnSpc>
                <a:spcPts val="3359"/>
              </a:lnSpc>
            </a:pPr>
            <a:r>
              <a:rPr lang="en-US" sz="2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with Europe slightly leading.</a:t>
            </a:r>
          </a:p>
          <a:p>
            <a:pPr algn="ctr">
              <a:lnSpc>
                <a:spcPts val="3359"/>
              </a:lnSpc>
            </a:pPr>
            <a:r>
              <a:rPr lang="en-US" sz="2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This shows gloabl customer presence without heavy</a:t>
            </a:r>
          </a:p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dependence on one region.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3B0F2">
                <a:alpha val="100000"/>
              </a:srgbClr>
            </a:gs>
            <a:gs pos="100000">
              <a:srgbClr val="FDF5B9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17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1379380" y="1349953"/>
            <a:ext cx="6512178" cy="758709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508763" y="1704716"/>
            <a:ext cx="10873234" cy="4978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59"/>
              </a:lnSpc>
              <a:spcBef>
                <a:spcPct val="0"/>
              </a:spcBef>
            </a:pPr>
            <a:r>
              <a:rPr lang="en-US" b="true" sz="28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Which payment method is most preferred by the customers?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08763" y="4288339"/>
            <a:ext cx="10169723" cy="1234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Credit card and UPI are among the most preferred payment methods,</a:t>
            </a:r>
          </a:p>
          <a:p>
            <a:pPr algn="ctr">
              <a:lnSpc>
                <a:spcPts val="3359"/>
              </a:lnSpc>
            </a:pPr>
            <a:r>
              <a:rPr lang="en-US" sz="2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followed by Debit card.</a:t>
            </a:r>
          </a:p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This indicates strong adoption of digital payment systems.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7794B6">
                <a:alpha val="100000"/>
              </a:srgbClr>
            </a:gs>
            <a:gs pos="100000">
              <a:srgbClr val="DFFAFF">
                <a:alpha val="100000"/>
              </a:srgbClr>
            </a:gs>
          </a:gsLst>
          <a:lin ang="189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18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832146" y="1295485"/>
            <a:ext cx="5217070" cy="7976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72"/>
              </a:lnSpc>
            </a:pPr>
            <a:r>
              <a:rPr lang="en-US" sz="4694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*Final conclusion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065333" y="2794809"/>
            <a:ext cx="3961505" cy="532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65"/>
              </a:lnSpc>
            </a:pPr>
            <a:r>
              <a:rPr lang="en-US" sz="3118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1.Sales performance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892708" y="4047589"/>
            <a:ext cx="9190563" cy="10959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067" indent="-226534" lvl="1">
              <a:lnSpc>
                <a:spcPts val="2937"/>
              </a:lnSpc>
              <a:buFont typeface="Arial"/>
              <a:buChar char="•"/>
            </a:pPr>
            <a:r>
              <a:rPr lang="en-US" sz="209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Sales show seasonal fluctuations across months.</a:t>
            </a:r>
          </a:p>
          <a:p>
            <a:pPr algn="l" marL="453067" indent="-226534" lvl="1">
              <a:lnSpc>
                <a:spcPts val="2937"/>
              </a:lnSpc>
              <a:buFont typeface="Arial"/>
              <a:buChar char="•"/>
            </a:pPr>
            <a:r>
              <a:rPr lang="en-US" sz="209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Certain months consistently generate higher revenue.</a:t>
            </a:r>
          </a:p>
          <a:p>
            <a:pPr algn="l" marL="453067" indent="-226534" lvl="1">
              <a:lnSpc>
                <a:spcPts val="2937"/>
              </a:lnSpc>
              <a:buFont typeface="Arial"/>
              <a:buChar char="•"/>
            </a:pPr>
            <a:r>
              <a:rPr lang="en-US" sz="209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Website and Market place channels perform better than Mobile app.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065333" y="5983849"/>
            <a:ext cx="4495949" cy="530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68"/>
              </a:lnSpc>
            </a:pPr>
            <a:r>
              <a:rPr lang="en-US" sz="312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2.Product performance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892708" y="6977141"/>
            <a:ext cx="8228558" cy="1099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Fashion and Electronics categories contribute higher sales.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Mixer and Sofa are top performing products.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Shoes generate lower profit and need improvement strategy.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7794B6">
                <a:alpha val="100000"/>
              </a:srgbClr>
            </a:gs>
            <a:gs pos="100000">
              <a:srgbClr val="DFFAFF">
                <a:alpha val="100000"/>
              </a:srgbClr>
            </a:gs>
          </a:gsLst>
          <a:lin ang="189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19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998703" y="2625057"/>
            <a:ext cx="4363492" cy="530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68"/>
              </a:lnSpc>
            </a:pPr>
            <a:r>
              <a:rPr lang="en-US" sz="312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3.Profitability Analysis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473079" y="3857037"/>
            <a:ext cx="8447633" cy="1099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Fashion Category has the highest profit margin.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Discounts impact profit levels and must be managed carefully.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Balanced pricing strategy is essential for sustainable growth.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998703" y="5638800"/>
            <a:ext cx="3853011" cy="530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68"/>
              </a:lnSpc>
            </a:pPr>
            <a:r>
              <a:rPr lang="en-US" sz="312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4.Customer Insights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473079" y="6874002"/>
            <a:ext cx="9128373" cy="1470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Revenue is evenly distributed across regions.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Africa and Europe show strong revenue contribution.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Repeat customers are limited-retention strategies can be improved.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Digital payment methods are highly preferred.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20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3624135" y="3153753"/>
            <a:ext cx="11039730" cy="3979494"/>
            <a:chOff x="0" y="0"/>
            <a:chExt cx="14719640" cy="5305992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1814606" y="-333375"/>
              <a:ext cx="10174169" cy="38707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4302"/>
                </a:lnSpc>
              </a:pPr>
              <a:r>
                <a:rPr lang="en-US" b="true" sz="17358" i="true" spc="-607">
                  <a:solidFill>
                    <a:srgbClr val="000000"/>
                  </a:solidFill>
                  <a:latin typeface="Cooper BT Bold Italics"/>
                  <a:ea typeface="Cooper BT Bold Italics"/>
                  <a:cs typeface="Cooper BT Bold Italics"/>
                  <a:sym typeface="Cooper BT Bold Italics"/>
                </a:rPr>
                <a:t>Thank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1435289"/>
              <a:ext cx="14719640" cy="38707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24302"/>
                </a:lnSpc>
              </a:pPr>
              <a:r>
                <a:rPr lang="en-US" b="true" sz="17358" i="true" spc="-607">
                  <a:solidFill>
                    <a:srgbClr val="000000"/>
                  </a:solidFill>
                  <a:latin typeface="Cooper BT Bold Italics"/>
                  <a:ea typeface="Cooper BT Bold Italics"/>
                  <a:cs typeface="Cooper BT Bold Italics"/>
                  <a:sym typeface="Cooper BT Bold Italics"/>
                </a:rPr>
                <a:t>you!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DAHCn7xfW80</dc:identifier>
  <dcterms:modified xsi:type="dcterms:W3CDTF">2011-08-01T06:04:30Z</dcterms:modified>
  <cp:revision>1</cp:revision>
  <dc:title>ecommerce insights</dc:title>
</cp:coreProperties>
</file>